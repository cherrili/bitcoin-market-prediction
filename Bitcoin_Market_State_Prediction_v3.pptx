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6"/>
    <p:sldId id="259" r:id="rId5"/>
    <p:sldId id="261" r:id="rId7"/>
    <p:sldId id="274" r:id="rId25"/>
    <p:sldId id="268" r:id="rId14"/>
    <p:sldId id="275" r:id="rId26"/>
    <p:sldId id="271" r:id="rId17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59"/>
  </p:normalViewPr>
  <p:slideViewPr>
    <p:cSldViewPr snapToGrid="0">
      <p:cViewPr varScale="1">
        <p:scale>
          <a:sx n="110" d="100"/>
          <a:sy n="110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A9C4461-A941-475B-A3E7-32FC824763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C37CCA-D21F-45A8-BD08-A7A47106F9F7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MACHINE LEARNING PROJECT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1A47E0-6E3D-4DA0-98B2-0766D96D166E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65722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Bitcoin Market</a:t>
            </a:r>
          </a:p>
          <a:p>
            <a:pPr algn="l"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State Prediction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CE9430-794A-4934-AFAD-E3BD60523E40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609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Predicting bull, sideways, and bear regimes with on-chain indicators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FDB8278-B5EB-4F2A-9D65-A29481E0D35A}"/>
              </a:ext>
            </a:extLst>
          </p:cNvPr>
          <p:cNvSpPr>
            <a:spLocks noGrp="1"/>
          </p:cNvSpPr>
          <p:nvPr/>
        </p:nvSpPr>
        <p:spPr>
          <a:xfrm>
            <a:off x="7886700" y="895350"/>
            <a:ext cx="2952750" cy="2952750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9D3A78-5734-442D-9FAB-F579FE3EFEC1}"/>
              </a:ext>
            </a:extLst>
          </p:cNvPr>
          <p:cNvSpPr>
            <a:spLocks noGrp="1"/>
          </p:cNvSpPr>
          <p:nvPr/>
        </p:nvSpPr>
        <p:spPr>
          <a:xfrm>
            <a:off x="8172450" y="1847850"/>
            <a:ext cx="2381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2010–2023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FFDAC8-642C-42C2-8087-9EF3F20490AE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2190750" cy="781050"/>
          </a:xfrm>
          <a:prstGeom prst="rect">
            <a:avLst/>
          </a:prstGeom>
          <a:solidFill>
            <a:srgbClr val="1D1E22"/>
          </a:solidFill>
          <a:ln w="9525">
            <a:solidFill>
              <a:srgbClr val="3C3A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CD0B64-CE9C-49BB-950C-8AFB9A523484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3-class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72D07B-D3E5-4819-BB2C-EBE358F0EBAB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7C1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C1B5"/>
                </a:solidFill>
                <a:latin typeface="Aptos"/>
                <a:ea typeface="Aptos"/>
                <a:cs typeface="Aptos"/>
              </a:rPr>
              <a:t>Daily on-chain 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B67229-E17C-439A-9E63-0DBE0B3F5A21}"/>
              </a:ext>
            </a:extLst>
          </p:cNvPr>
          <p:cNvSpPr>
            <a:spLocks noGrp="1"/>
          </p:cNvSpPr>
          <p:nvPr/>
        </p:nvSpPr>
        <p:spPr>
          <a:xfrm>
            <a:off x="3105150" y="4533900"/>
            <a:ext cx="2400300" cy="781050"/>
          </a:xfrm>
          <a:prstGeom prst="rect">
            <a:avLst/>
          </a:prstGeom>
          <a:solidFill>
            <a:srgbClr val="1D1E22"/>
          </a:solidFill>
          <a:ln w="9525">
            <a:solidFill>
              <a:srgbClr val="3C3A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3638C5-A95F-48BE-9183-25CA91ED4C7F}"/>
              </a:ext>
            </a:extLst>
          </p:cNvPr>
          <p:cNvSpPr>
            <a:spLocks noGrp="1"/>
          </p:cNvSpPr>
          <p:nvPr/>
        </p:nvSpPr>
        <p:spPr>
          <a:xfrm>
            <a:off x="3257550" y="46482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176 → 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5221A6-585D-45FB-93E7-829DEA4395FF}"/>
              </a:ext>
            </a:extLst>
          </p:cNvPr>
          <p:cNvSpPr>
            <a:spLocks noGrp="1"/>
          </p:cNvSpPr>
          <p:nvPr/>
        </p:nvSpPr>
        <p:spPr>
          <a:xfrm>
            <a:off x="3257550" y="49911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7C1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C1B5"/>
                </a:solidFill>
                <a:latin typeface="Aptos"/>
                <a:ea typeface="Aptos"/>
                <a:cs typeface="Aptos"/>
              </a:rPr>
              <a:t>27 raw → 176 engineered → top 40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1977CF-B39F-4BAC-B2A1-AD735A5DB23B}"/>
              </a:ext>
            </a:extLst>
          </p:cNvPr>
          <p:cNvSpPr>
            <a:spLocks noGrp="1"/>
          </p:cNvSpPr>
          <p:nvPr/>
        </p:nvSpPr>
        <p:spPr>
          <a:xfrm>
            <a:off x="5772150" y="4533900"/>
            <a:ext cx="2571750" cy="781050"/>
          </a:xfrm>
          <a:prstGeom prst="rect">
            <a:avLst/>
          </a:prstGeom>
          <a:solidFill>
            <a:srgbClr val="1D1E22"/>
          </a:solidFill>
          <a:ln w="9525">
            <a:solidFill>
              <a:srgbClr val="3C3A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F4FD51-372B-4E51-8BCB-CFBEAC11A223}"/>
              </a:ext>
            </a:extLst>
          </p:cNvPr>
          <p:cNvSpPr>
            <a:spLocks noGrp="1"/>
          </p:cNvSpPr>
          <p:nvPr/>
        </p:nvSpPr>
        <p:spPr>
          <a:xfrm>
            <a:off x="5924550" y="4648200"/>
            <a:ext cx="2266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10 models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AB9A46-AA3E-4B0B-B70D-D081D1CE1FF8}"/>
              </a:ext>
            </a:extLst>
          </p:cNvPr>
          <p:cNvSpPr>
            <a:spLocks noGrp="1"/>
          </p:cNvSpPr>
          <p:nvPr/>
        </p:nvSpPr>
        <p:spPr>
          <a:xfrm>
            <a:off x="5924550" y="499110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7C1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C1B5"/>
                </a:solidFill>
                <a:latin typeface="Aptos"/>
                <a:ea typeface="Aptos"/>
                <a:cs typeface="Aptos"/>
              </a:rPr>
              <a:t>Supervised + LSTM + DQN + Ensemble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6E0FD4-4EC1-42DF-AF26-2277964BE5BD}"/>
              </a:ext>
            </a:extLst>
          </p:cNvPr>
          <p:cNvSpPr>
            <a:spLocks noGrp="1"/>
          </p:cNvSpPr>
          <p:nvPr/>
        </p:nvSpPr>
        <p:spPr>
          <a:xfrm>
            <a:off x="8610600" y="4533900"/>
            <a:ext cx="2190750" cy="781050"/>
          </a:xfrm>
          <a:prstGeom prst="rect">
            <a:avLst/>
          </a:prstGeom>
          <a:solidFill>
            <a:srgbClr val="1D1E22"/>
          </a:solidFill>
          <a:ln w="9525">
            <a:solidFill>
              <a:srgbClr val="3C3A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1E746E-91EE-4DDF-8EFB-57D6AADE7AA4}"/>
              </a:ext>
            </a:extLst>
          </p:cNvPr>
          <p:cNvSpPr>
            <a:spLocks noGrp="1"/>
          </p:cNvSpPr>
          <p:nvPr/>
        </p:nvSpPr>
        <p:spPr>
          <a:xfrm>
            <a:off x="8763000" y="46482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80 / 20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5E4D2F-9412-4F60-BE93-5C4E4233ADB0}"/>
              </a:ext>
            </a:extLst>
          </p:cNvPr>
          <p:cNvSpPr>
            <a:spLocks noGrp="1"/>
          </p:cNvSpPr>
          <p:nvPr/>
        </p:nvSpPr>
        <p:spPr>
          <a:xfrm>
            <a:off x="8763000" y="49911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7C1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C1B5"/>
                </a:solidFill>
                <a:latin typeface="Aptos"/>
                <a:ea typeface="Aptos"/>
                <a:cs typeface="Aptos"/>
              </a:rPr>
              <a:t>Time-ordered split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73E46D-FC9E-4C16-AFAF-5D8F129B3DD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BDB8A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8AC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63216-0921-4F99-A6C7-6E34BD8FE99D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548F32-8DC2-4281-B8EE-AFBEBC33B67D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3A3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2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6A2A357-DEA2-450C-8959-8942865244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904235E-209B-492C-8343-B08852838870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AE1EFCD-6075-49F4-B9DC-5D9C7DB3EB8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CONTENTS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501107-24AD-4892-BA12-295B03331715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590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dirty="0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 xml:space="preserve"> Contents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FB094B-CD4B-4101-A2B0-F373B05CBE25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9DA3D2-21E1-44BF-ADC3-A50E91FBEAB5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666750" cy="190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A3721-2527-4257-B693-AC5C776F0ECA}"/>
              </a:ext>
            </a:extLst>
          </p:cNvPr>
          <p:cNvSpPr>
            <a:spLocks noGrp="1"/>
          </p:cNvSpPr>
          <p:nvPr/>
        </p:nvSpPr>
        <p:spPr>
          <a:xfrm>
            <a:off x="1809750" y="16764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Data &amp; Problem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FFF6EE-AB59-40F7-B50A-5C0964EA006D}"/>
              </a:ext>
            </a:extLst>
          </p:cNvPr>
          <p:cNvSpPr>
            <a:spLocks noGrp="1"/>
          </p:cNvSpPr>
          <p:nvPr/>
        </p:nvSpPr>
        <p:spPr>
          <a:xfrm>
            <a:off x="5334000" y="1724025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Dataset, label scheme, data split principle.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E8CBB3-E700-4D7B-8F71-F395364D4814}"/>
              </a:ext>
            </a:extLst>
          </p:cNvPr>
          <p:cNvSpPr>
            <a:spLocks noGrp="1"/>
          </p:cNvSpPr>
          <p:nvPr/>
        </p:nvSpPr>
        <p:spPr>
          <a:xfrm>
            <a:off x="1809750" y="2133600"/>
            <a:ext cx="8382000" cy="1143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153486-38E8-4BC6-A77C-418AEE6ED9EF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950E9A-BCB2-48CA-AA60-64D245C0EB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666750" cy="190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7EE716-91BE-47E8-85CA-F3664C469503}"/>
              </a:ext>
            </a:extLst>
          </p:cNvPr>
          <p:cNvSpPr>
            <a:spLocks noGrp="1"/>
          </p:cNvSpPr>
          <p:nvPr/>
        </p:nvSpPr>
        <p:spPr>
          <a:xfrm>
            <a:off x="1809750" y="24574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Analysis Methods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FFC497-619F-41DE-A376-EEBC7CE396D5}"/>
              </a:ext>
            </a:extLst>
          </p:cNvPr>
          <p:cNvSpPr>
            <a:spLocks noGrp="1"/>
          </p:cNvSpPr>
          <p:nvPr/>
        </p:nvSpPr>
        <p:spPr>
          <a:xfrm>
            <a:off x="5334000" y="2505075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Train/test split, cross-validation, key challenges.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4D5A2D-04FE-44C6-B994-5F20C72AFF8D}"/>
              </a:ext>
            </a:extLst>
          </p:cNvPr>
          <p:cNvSpPr>
            <a:spLocks noGrp="1"/>
          </p:cNvSpPr>
          <p:nvPr/>
        </p:nvSpPr>
        <p:spPr>
          <a:xfrm>
            <a:off x="1809750" y="2914650"/>
            <a:ext cx="8382000" cy="1143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AA2EBB-0955-4D55-A9FE-6E2747DAABDB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903676-CA60-4ED1-8AAC-CB911A19B30C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666750" cy="190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163821-7541-4AEE-BE72-89A090611BF5}"/>
              </a:ext>
            </a:extLst>
          </p:cNvPr>
          <p:cNvSpPr>
            <a:spLocks noGrp="1"/>
          </p:cNvSpPr>
          <p:nvPr/>
        </p:nvSpPr>
        <p:spPr>
          <a:xfrm>
            <a:off x="1809750" y="32385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Feature Engineering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FB8355-48F4-4177-98CF-BCCA59DE3682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Feature construction, selection, preprocessing.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281DD6-1915-48C5-B8BE-27CFC01571F1}"/>
              </a:ext>
            </a:extLst>
          </p:cNvPr>
          <p:cNvSpPr>
            <a:spLocks noGrp="1"/>
          </p:cNvSpPr>
          <p:nvPr/>
        </p:nvSpPr>
        <p:spPr>
          <a:xfrm>
            <a:off x="1809750" y="3695700"/>
            <a:ext cx="8382000" cy="1143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0F6FF9-4553-497F-BF4D-8817414E04AE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B425BF-E5D9-49F4-A67C-77478EC2FB6A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666750" cy="190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C770DE-5FB9-41DF-9E64-F8DA2AF8B880}"/>
              </a:ext>
            </a:extLst>
          </p:cNvPr>
          <p:cNvSpPr>
            <a:spLocks noGrp="1"/>
          </p:cNvSpPr>
          <p:nvPr/>
        </p:nvSpPr>
        <p:spPr>
          <a:xfrm>
            <a:off x="1809750" y="40195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ML Models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6E82D8-DE60-4C40-81FC-3E37F1DFBB4F}"/>
              </a:ext>
            </a:extLst>
          </p:cNvPr>
          <p:cNvSpPr>
            <a:spLocks noGrp="1"/>
          </p:cNvSpPr>
          <p:nvPr/>
        </p:nvSpPr>
        <p:spPr>
          <a:xfrm>
            <a:off x="5334000" y="4067175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10 models: supervised, sequential, RL, ensemble.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FA0792-81BE-426F-A137-16307A8B8456}"/>
              </a:ext>
            </a:extLst>
          </p:cNvPr>
          <p:cNvSpPr>
            <a:spLocks noGrp="1"/>
          </p:cNvSpPr>
          <p:nvPr/>
        </p:nvSpPr>
        <p:spPr>
          <a:xfrm>
            <a:off x="1809750" y="4476750"/>
            <a:ext cx="8382000" cy="1143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6F6ABD-29EA-4B23-908D-3078FCFDBA7C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E5777D-9A97-4F75-9C72-12738BC07557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666750" cy="190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51EBE97-3714-493A-B16D-EABE6D3125C0}"/>
              </a:ext>
            </a:extLst>
          </p:cNvPr>
          <p:cNvSpPr>
            <a:spLocks noGrp="1"/>
          </p:cNvSpPr>
          <p:nvPr/>
        </p:nvSpPr>
        <p:spPr>
          <a:xfrm>
            <a:off x="1809750" y="48006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Results &amp; Robustness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7256C5-75EF-44C8-B007-D2703C5A313E}"/>
              </a:ext>
            </a:extLst>
          </p:cNvPr>
          <p:cNvSpPr>
            <a:spLocks noGrp="1"/>
          </p:cNvSpPr>
          <p:nvPr/>
        </p:nvSpPr>
        <p:spPr>
          <a:xfrm>
            <a:off x="5334000" y="4848225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Macro-F1 primary metric, why 0.4124 matters, binary robustness, feature importance, Q&amp;A.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94838C-98D9-4806-AD49-DE4E59E4C12C}"/>
              </a:ext>
            </a:extLst>
          </p:cNvPr>
          <p:cNvSpPr>
            <a:spLocks noGrp="1"/>
          </p:cNvSpPr>
          <p:nvPr/>
        </p:nvSpPr>
        <p:spPr>
          <a:xfrm>
            <a:off x="1809750" y="5257800"/>
            <a:ext cx="8382000" cy="1143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85CBC4-9463-4F15-939B-E3EBB4AFEF30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77A708-AE12-4CF2-8018-1948782E3412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D6ED9B-82C1-411F-AC62-9DEE442AB72B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4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0517CD7-742B-4883-A45C-BE28384166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3D7A355-BAED-4778-9D42-ACD20A806285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E4C60B4-F4DC-41A5-8271-83126B414EE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DATA &amp; PROBLEM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445132-E3F0-4F55-9C96-0971B0ABA3BC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Dataset D splits into D_tr and D_te; labels derived from 30-day forward return.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B69C17-236F-4CB1-8400-E17499880D24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49530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Two daily CSV sources merged: blockchain metrics + on-chain indicators. Date range 2010–2023, ~4,700 observations. Class distribution is moderately imbalanced → class_weight=‘balanced’ applied across all models.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D16D26-F944-4A3A-9AD0-ABA778003BBC}"/>
              </a:ext>
            </a:extLst>
          </p:cNvPr>
          <p:cNvSpPr>
            <a:spLocks noGrp="1"/>
          </p:cNvSpPr>
          <p:nvPr/>
        </p:nvSpPr>
        <p:spPr>
          <a:xfrm>
            <a:off x="6362700" y="1524000"/>
            <a:ext cx="4381500" cy="302895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3CC127-5F1B-44B8-A281-521F225A508E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30-day Forward Return Label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5B173C-9428-4873-BB38-D855DE3810A3}"/>
              </a:ext>
            </a:extLst>
          </p:cNvPr>
          <p:cNvSpPr>
            <a:spLocks noGrp="1"/>
          </p:cNvSpPr>
          <p:nvPr/>
        </p:nvSpPr>
        <p:spPr>
          <a:xfrm>
            <a:off x="6953250" y="2419350"/>
            <a:ext cx="1428750" cy="266700"/>
          </a:xfrm>
          <a:prstGeom prst="rect">
            <a:avLst/>
          </a:prstGeom>
          <a:solidFill>
            <a:srgbClr val="2BAE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43BE7A-1268-4986-8D2D-CA81524C98CC}"/>
              </a:ext>
            </a:extLst>
          </p:cNvPr>
          <p:cNvSpPr>
            <a:spLocks noGrp="1"/>
          </p:cNvSpPr>
          <p:nvPr/>
        </p:nvSpPr>
        <p:spPr>
          <a:xfrm>
            <a:off x="7029450" y="246697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BULL  &gt; +15%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11F08D-52A8-4BD4-BA11-7B992E6920D8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1714500" cy="266700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FD4B28-F96F-4466-9119-48F8C79AAAD4}"/>
              </a:ext>
            </a:extLst>
          </p:cNvPr>
          <p:cNvSpPr>
            <a:spLocks noGrp="1"/>
          </p:cNvSpPr>
          <p:nvPr/>
        </p:nvSpPr>
        <p:spPr>
          <a:xfrm>
            <a:off x="7029450" y="3076575"/>
            <a:ext cx="156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SIDEWAYS  ±15%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FF9B1A-090B-423D-996F-B553C0A30685}"/>
              </a:ext>
            </a:extLst>
          </p:cNvPr>
          <p:cNvSpPr>
            <a:spLocks noGrp="1"/>
          </p:cNvSpPr>
          <p:nvPr/>
        </p:nvSpPr>
        <p:spPr>
          <a:xfrm>
            <a:off x="6953250" y="3638550"/>
            <a:ext cx="1428750" cy="266700"/>
          </a:xfrm>
          <a:prstGeom prst="rect">
            <a:avLst/>
          </a:prstGeom>
          <a:solidFill>
            <a:srgbClr val="D84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D112A3-CF8E-459E-A0FE-67BC1FA7B19E}"/>
              </a:ext>
            </a:extLst>
          </p:cNvPr>
          <p:cNvSpPr>
            <a:spLocks noGrp="1"/>
          </p:cNvSpPr>
          <p:nvPr/>
        </p:nvSpPr>
        <p:spPr>
          <a:xfrm>
            <a:off x="7029450" y="368617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BEAR  &lt; -15%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291DD2-E5B3-48A7-9C0A-2A7ABB5145C0}"/>
              </a:ext>
            </a:extLst>
          </p:cNvPr>
          <p:cNvSpPr>
            <a:spLocks noGrp="1"/>
          </p:cNvSpPr>
          <p:nvPr/>
        </p:nvSpPr>
        <p:spPr>
          <a:xfrm>
            <a:off x="8858250" y="2428875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Label = 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AAB80-2A66-4570-8BC9-91519F9FFFDE}"/>
              </a:ext>
            </a:extLst>
          </p:cNvPr>
          <p:cNvSpPr>
            <a:spLocks noGrp="1"/>
          </p:cNvSpPr>
          <p:nvPr/>
        </p:nvSpPr>
        <p:spPr>
          <a:xfrm>
            <a:off x="8858250" y="3038475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Label = 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BDE64D-E93A-4845-91E6-E440550B18A6}"/>
              </a:ext>
            </a:extLst>
          </p:cNvPr>
          <p:cNvSpPr>
            <a:spLocks noGrp="1"/>
          </p:cNvSpPr>
          <p:nvPr/>
        </p:nvSpPr>
        <p:spPr>
          <a:xfrm>
            <a:off x="8858250" y="3648075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Label = -1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D8DE0D-9348-4FC1-BFA3-4A8AFBA4FDF9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495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Key Principle: D_te is held out completely — no fitting, no tuning, no inspection until final evaluation. All splits are strictly chronological; no random shuffling is ever applied to a time-series dataset.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2A1DBA-D2E0-47A3-BAAC-3812462476BB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38C48A-6AB1-44F2-AA07-C2F431C82451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9F6261-B39E-4D86-AFB3-155E04272C4C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3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C16A2C5-AFEE-4064-A78E-FDAA22CDB3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C07500F-7EB3-43D4-A994-1D565658C3D1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1FAD812-15E9-4A85-9243-B0C26CDE39F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4D23FD-0D0A-405E-B50A-963A77D2D899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27 raw columns (2 CSVs) → 19 base features → 176 engineered → top 40 selected by RF importance.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503BB3-1B9C-4611-AD70-87D24339A08B}"/>
              </a:ext>
            </a:extLst>
          </p:cNvPr>
          <p:cNvSpPr>
            <a:spLocks noGrp="1"/>
          </p:cNvSpPr>
          <p:nvPr/>
        </p:nvSpPr>
        <p:spPr>
          <a:xfrm>
            <a:off x="647700" y="1676400"/>
            <a:ext cx="2190750" cy="7810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531A51-4510-4B8F-BC77-D75CB801D258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015E48-FBF6-4EC9-A14C-1426A8BCF8A9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Raw columns (2 CSVs merged)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7F8314-7B5C-4026-8F2B-91A0F6A30811}"/>
              </a:ext>
            </a:extLst>
          </p:cNvPr>
          <p:cNvSpPr>
            <a:spLocks noGrp="1"/>
          </p:cNvSpPr>
          <p:nvPr/>
        </p:nvSpPr>
        <p:spPr>
          <a:xfrm>
            <a:off x="3105150" y="1676400"/>
            <a:ext cx="2286000" cy="7810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2BA07A-EEAD-4053-BEBC-E2B7794E77E4}"/>
              </a:ext>
            </a:extLst>
          </p:cNvPr>
          <p:cNvSpPr>
            <a:spLocks noGrp="1"/>
          </p:cNvSpPr>
          <p:nvPr/>
        </p:nvSpPr>
        <p:spPr>
          <a:xfrm>
            <a:off x="3257550" y="1790700"/>
            <a:ext cx="1981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176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180BD8-4EFB-4C91-8662-1C86D9727B55}"/>
              </a:ext>
            </a:extLst>
          </p:cNvPr>
          <p:cNvSpPr>
            <a:spLocks noGrp="1"/>
          </p:cNvSpPr>
          <p:nvPr/>
        </p:nvSpPr>
        <p:spPr>
          <a:xfrm>
            <a:off x="3257550" y="21336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After rolling means, lags &amp; momentum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18C260-3F21-4D23-9A39-E4A0C20554E8}"/>
              </a:ext>
            </a:extLst>
          </p:cNvPr>
          <p:cNvSpPr>
            <a:spLocks noGrp="1"/>
          </p:cNvSpPr>
          <p:nvPr/>
        </p:nvSpPr>
        <p:spPr>
          <a:xfrm>
            <a:off x="5657850" y="1676400"/>
            <a:ext cx="2095500" cy="7810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76BCE0-6EEE-441B-A127-EB7F997F9E70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Top 40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CA7002-C698-482C-8093-48DE117427AB}"/>
              </a:ext>
            </a:extLst>
          </p:cNvPr>
          <p:cNvSpPr>
            <a:spLocks noGrp="1"/>
          </p:cNvSpPr>
          <p:nvPr/>
        </p:nvSpPr>
        <p:spPr>
          <a:xfrm>
            <a:off x="5810250" y="21336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Selected by RF importance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C0D305-A35E-400F-BC86-7406C7B55C39}"/>
              </a:ext>
            </a:extLst>
          </p:cNvPr>
          <p:cNvSpPr>
            <a:spLocks noGrp="1"/>
          </p:cNvSpPr>
          <p:nvPr/>
        </p:nvSpPr>
        <p:spPr>
          <a:xfrm>
            <a:off x="8020050" y="1676400"/>
            <a:ext cx="2476500" cy="7810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149D01-5C21-418F-A990-24DF3EEB55B4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2171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0C5F26-E560-472C-943E-3C3A0996C05F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Feature groups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A5AE66-3BBD-41C2-86CA-D2913AECE183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9829800" cy="4762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A2F43F-B5FC-4600-AEB3-A6CFF84427B4}"/>
              </a:ext>
            </a:extLst>
          </p:cNvPr>
          <p:cNvSpPr>
            <a:spLocks noGrp="1"/>
          </p:cNvSpPr>
          <p:nvPr/>
        </p:nvSpPr>
        <p:spPr>
          <a:xfrm>
            <a:off x="952500" y="31623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Network activity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725918-02E7-4B81-8D98-58068AD3CD12}"/>
              </a:ext>
            </a:extLst>
          </p:cNvPr>
          <p:cNvSpPr>
            <a:spLocks noGrp="1"/>
          </p:cNvSpPr>
          <p:nvPr/>
        </p:nvSpPr>
        <p:spPr>
          <a:xfrm>
            <a:off x="3619500" y="3181350"/>
            <a:ext cx="628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transaction rate, active addresses, mempool size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460656-823F-465B-9023-50BFFED1AD40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9829800" cy="4762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4D4319-7334-4789-8BD0-0B86D23BD8BC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Mining security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173628-00C6-4FC0-ADC6-7327EDAE4414}"/>
              </a:ext>
            </a:extLst>
          </p:cNvPr>
          <p:cNvSpPr>
            <a:spLocks noGrp="1"/>
          </p:cNvSpPr>
          <p:nvPr/>
        </p:nvSpPr>
        <p:spPr>
          <a:xfrm>
            <a:off x="3619500" y="3771900"/>
            <a:ext cx="628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hash rate, difficulty, miner revenue, fees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605C5A-CA43-4276-A5EF-919C722BE7AA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9829800" cy="4762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EEAAD0-A30F-499A-B268-84685FA8C820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Market valuation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D07FC44-85A4-4B45-AACE-70D3E468DD8E}"/>
              </a:ext>
            </a:extLst>
          </p:cNvPr>
          <p:cNvSpPr>
            <a:spLocks noGrp="1"/>
          </p:cNvSpPr>
          <p:nvPr/>
        </p:nvSpPr>
        <p:spPr>
          <a:xfrm>
            <a:off x="3619500" y="4362450"/>
            <a:ext cx="628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price, market cap, realised cap, NUPL, MVRV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28E777D-7C36-4FD4-9767-37B06577BE0D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9829800" cy="47625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A33BCA-0C07-46B9-9B4C-5AED7ADD207A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Temporal memory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7B63F2B-332F-4330-AA80-27056D5E8A56}"/>
              </a:ext>
            </a:extLst>
          </p:cNvPr>
          <p:cNvSpPr>
            <a:spLocks noGrp="1"/>
          </p:cNvSpPr>
          <p:nvPr/>
        </p:nvSpPr>
        <p:spPr>
          <a:xfrm>
            <a:off x="3619500" y="4953000"/>
            <a:ext cx="628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Rolling 7/14/30d means, lag 1/3/7/14/30d, momentum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802635-0558-4AF1-85A9-9FFAC2C9FB17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C61DD7-3CDD-4D69-A7AF-5EFFDBE5972A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C54124-72DB-4B45-B440-6ED651C1A84A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81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80E1F07-25B1-4796-A1DC-A08FC3ECE5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7E8C2D0-A4C8-435B-91D6-C500A5F2AB07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D179226-C7A9-49EE-99B8-B4106AA8C1E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ANALYSIS METHODS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1953D0-6A07-4808-A45B-35A46598930A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Time-series constraints require special handling at every step.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F348A-A479-482D-8D7C-FBF0B7CEA112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118C09-FFA9-433F-BDF8-FB8D40EF048C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060DA-90C3-4855-9D07-362F0B84D912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Split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8B2C9E-65BA-45E4-BFE7-BB6C221AD79F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Strict 80/20 chronological split — no shuffling, no look-ahead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F86AE6-1BF7-4A4A-8DA3-7532BE479AF1}"/>
              </a:ext>
            </a:extLst>
          </p:cNvPr>
          <p:cNvSpPr>
            <a:spLocks noGrp="1"/>
          </p:cNvSpPr>
          <p:nvPr/>
        </p:nvSpPr>
        <p:spPr>
          <a:xfrm>
            <a:off x="22574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A798DB-22B4-41F3-8D49-BB38456F47BE}"/>
              </a:ext>
            </a:extLst>
          </p:cNvPr>
          <p:cNvSpPr>
            <a:spLocks noGrp="1"/>
          </p:cNvSpPr>
          <p:nvPr/>
        </p:nvSpPr>
        <p:spPr>
          <a:xfrm>
            <a:off x="24193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D4AAC9-B31A-4919-A7E5-6A715DC7F4E4}"/>
              </a:ext>
            </a:extLst>
          </p:cNvPr>
          <p:cNvSpPr>
            <a:spLocks noGrp="1"/>
          </p:cNvSpPr>
          <p:nvPr/>
        </p:nvSpPr>
        <p:spPr>
          <a:xfrm>
            <a:off x="25908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012AB5-54E1-4289-A603-6A2987BF5514}"/>
              </a:ext>
            </a:extLst>
          </p:cNvPr>
          <p:cNvSpPr>
            <a:spLocks noGrp="1"/>
          </p:cNvSpPr>
          <p:nvPr/>
        </p:nvSpPr>
        <p:spPr>
          <a:xfrm>
            <a:off x="25908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CV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E47C13-13C5-4CD7-9FEC-EED3D46B8E26}"/>
              </a:ext>
            </a:extLst>
          </p:cNvPr>
          <p:cNvSpPr>
            <a:spLocks noGrp="1"/>
          </p:cNvSpPr>
          <p:nvPr/>
        </p:nvSpPr>
        <p:spPr>
          <a:xfrm>
            <a:off x="25908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GridSearchCV + TimeSeriesSplit(n=5) — only training folds used for tuning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A4995D-2993-4565-8CAA-227E37336294}"/>
              </a:ext>
            </a:extLst>
          </p:cNvPr>
          <p:cNvSpPr>
            <a:spLocks noGrp="1"/>
          </p:cNvSpPr>
          <p:nvPr/>
        </p:nvSpPr>
        <p:spPr>
          <a:xfrm>
            <a:off x="406717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55262C-CF46-48AD-B10A-2CAED1B0E0F6}"/>
              </a:ext>
            </a:extLst>
          </p:cNvPr>
          <p:cNvSpPr>
            <a:spLocks noGrp="1"/>
          </p:cNvSpPr>
          <p:nvPr/>
        </p:nvSpPr>
        <p:spPr>
          <a:xfrm>
            <a:off x="42291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B3BF9D-7F8C-44E6-995B-1D7349832977}"/>
              </a:ext>
            </a:extLst>
          </p:cNvPr>
          <p:cNvSpPr>
            <a:spLocks noGrp="1"/>
          </p:cNvSpPr>
          <p:nvPr/>
        </p:nvSpPr>
        <p:spPr>
          <a:xfrm>
            <a:off x="44005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5ECE91-0190-4EB8-8A39-D46DDED9E9F0}"/>
              </a:ext>
            </a:extLst>
          </p:cNvPr>
          <p:cNvSpPr>
            <a:spLocks noGrp="1"/>
          </p:cNvSpPr>
          <p:nvPr/>
        </p:nvSpPr>
        <p:spPr>
          <a:xfrm>
            <a:off x="44005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Leakage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CC3C83-F731-4C84-B4A9-0DA38783E041}"/>
              </a:ext>
            </a:extLst>
          </p:cNvPr>
          <p:cNvSpPr>
            <a:spLocks noGrp="1"/>
          </p:cNvSpPr>
          <p:nvPr/>
        </p:nvSpPr>
        <p:spPr>
          <a:xfrm>
            <a:off x="44005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Scaler and feature selector fitted on D_tr only; D_te never touched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B39C0F-808F-4BA0-8AF2-36D42118D713}"/>
              </a:ext>
            </a:extLst>
          </p:cNvPr>
          <p:cNvSpPr>
            <a:spLocks noGrp="1"/>
          </p:cNvSpPr>
          <p:nvPr/>
        </p:nvSpPr>
        <p:spPr>
          <a:xfrm>
            <a:off x="58769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D8DA8B-E992-4B1D-992B-1FF5585CCBF5}"/>
              </a:ext>
            </a:extLst>
          </p:cNvPr>
          <p:cNvSpPr>
            <a:spLocks noGrp="1"/>
          </p:cNvSpPr>
          <p:nvPr/>
        </p:nvSpPr>
        <p:spPr>
          <a:xfrm>
            <a:off x="60388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5A6F9F-48E5-4F99-A587-3DE7DB5E6E4F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05238D-094F-4654-BB65-A86344E63066}"/>
              </a:ext>
            </a:extLst>
          </p:cNvPr>
          <p:cNvSpPr>
            <a:spLocks noGrp="1"/>
          </p:cNvSpPr>
          <p:nvPr/>
        </p:nvSpPr>
        <p:spPr>
          <a:xfrm>
            <a:off x="62103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Imbalance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5C69C5-191B-46E9-A010-1807ACF14FE5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class_weight=‘balanced’ or sample weights applied; macro F1 used as tuning metric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31D6A8-2283-4598-B5A5-F325097BCA3F}"/>
              </a:ext>
            </a:extLst>
          </p:cNvPr>
          <p:cNvSpPr>
            <a:spLocks noGrp="1"/>
          </p:cNvSpPr>
          <p:nvPr/>
        </p:nvSpPr>
        <p:spPr>
          <a:xfrm>
            <a:off x="768667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D89884-0D03-4B7F-B6DF-A7C139BA657D}"/>
              </a:ext>
            </a:extLst>
          </p:cNvPr>
          <p:cNvSpPr>
            <a:spLocks noGrp="1"/>
          </p:cNvSpPr>
          <p:nvPr/>
        </p:nvSpPr>
        <p:spPr>
          <a:xfrm>
            <a:off x="78486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B7E5BF-51D4-476F-BA30-F6BC2F947C6C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6CD5A7-25A7-49E9-A3EC-FE8FFA5A420E}"/>
              </a:ext>
            </a:extLst>
          </p:cNvPr>
          <p:cNvSpPr>
            <a:spLocks noGrp="1"/>
          </p:cNvSpPr>
          <p:nvPr/>
        </p:nvSpPr>
        <p:spPr>
          <a:xfrm>
            <a:off x="80200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Stability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02D9E9-02CA-46B1-A10F-B4A68314C1C6}"/>
              </a:ext>
            </a:extLst>
          </p:cNvPr>
          <p:cNvSpPr>
            <a:spLocks noGrp="1"/>
          </p:cNvSpPr>
          <p:nvPr/>
        </p:nvSpPr>
        <p:spPr>
          <a:xfrm>
            <a:off x="80200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Distribution shift checked between train and test windows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336C39-1338-4C6D-9AB4-1A0295ABD215}"/>
              </a:ext>
            </a:extLst>
          </p:cNvPr>
          <p:cNvSpPr>
            <a:spLocks noGrp="1"/>
          </p:cNvSpPr>
          <p:nvPr/>
        </p:nvSpPr>
        <p:spPr>
          <a:xfrm>
            <a:off x="94964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8B5A6F-0324-4650-A89E-709D6CBB8BF9}"/>
              </a:ext>
            </a:extLst>
          </p:cNvPr>
          <p:cNvSpPr>
            <a:spLocks noGrp="1"/>
          </p:cNvSpPr>
          <p:nvPr/>
        </p:nvSpPr>
        <p:spPr>
          <a:xfrm>
            <a:off x="96583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E06C1D-9FEE-4762-935F-10A7117AF4E5}"/>
              </a:ext>
            </a:extLst>
          </p:cNvPr>
          <p:cNvSpPr>
            <a:spLocks noGrp="1"/>
          </p:cNvSpPr>
          <p:nvPr/>
        </p:nvSpPr>
        <p:spPr>
          <a:xfrm>
            <a:off x="98298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975B4B-5702-4164-9C63-BE31CF3C1B7E}"/>
              </a:ext>
            </a:extLst>
          </p:cNvPr>
          <p:cNvSpPr>
            <a:spLocks noGrp="1"/>
          </p:cNvSpPr>
          <p:nvPr/>
        </p:nvSpPr>
        <p:spPr>
          <a:xfrm>
            <a:off x="98298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D8506C-9CE8-4879-8394-27F5A7DA9E9F}"/>
              </a:ext>
            </a:extLst>
          </p:cNvPr>
          <p:cNvSpPr>
            <a:spLocks noGrp="1"/>
          </p:cNvSpPr>
          <p:nvPr/>
        </p:nvSpPr>
        <p:spPr>
          <a:xfrm>
            <a:off x="98298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Always-Up (majority) and Random Guess included as sanity baselines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339373-C02A-4361-B700-C7CE46242A48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Key principle: D_te is untouched during all training, tuning, and feature selection.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66F0266-F21A-4D40-A0A5-8F6F1B5D588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FAE122-D208-4949-A1C9-422363D5647E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90618D-652F-4E13-B0E6-740E24164E1F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74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3D7FC2C-D926-4B0C-94F6-0A139DDA9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7A1DDDA-C183-49FE-B0D7-8AA9FAED7D13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D745335-CD6F-4C02-AEF2-4120B7459FE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ML MODELS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047FFD-3CBF-4C83-B739-B33DC07B2384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10 models tested: classical supervised, sequence, reinforcement learning, and ensemble methods.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A2763C-6972-4597-9F39-5F0CB0E03744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1524000" cy="165735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C3F091-B8B6-4D04-8A20-645C6D995CB4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B94B16-8DC9-4544-9EF5-B4709E7E9885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Logistic Regression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2A1C1E-0AA9-4AFA-8382-D6B3D415B854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Linear baseline, class_weight=balanced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CBC418-747B-4F19-B0FD-9D4455540912}"/>
              </a:ext>
            </a:extLst>
          </p:cNvPr>
          <p:cNvSpPr>
            <a:spLocks noGrp="1"/>
          </p:cNvSpPr>
          <p:nvPr/>
        </p:nvSpPr>
        <p:spPr>
          <a:xfrm>
            <a:off x="2419350" y="30289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ED7984-84B5-4541-B07E-FC12F8DFCA23}"/>
              </a:ext>
            </a:extLst>
          </p:cNvPr>
          <p:cNvSpPr>
            <a:spLocks noGrp="1"/>
          </p:cNvSpPr>
          <p:nvPr/>
        </p:nvSpPr>
        <p:spPr>
          <a:xfrm>
            <a:off x="2571750" y="2343150"/>
            <a:ext cx="1524000" cy="165735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B9ED4E-C47B-4825-BA7A-6C88752EB5FC}"/>
              </a:ext>
            </a:extLst>
          </p:cNvPr>
          <p:cNvSpPr>
            <a:spLocks noGrp="1"/>
          </p:cNvSpPr>
          <p:nvPr/>
        </p:nvSpPr>
        <p:spPr>
          <a:xfrm>
            <a:off x="27432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4AD496-5E44-49F1-A749-05287219154D}"/>
              </a:ext>
            </a:extLst>
          </p:cNvPr>
          <p:cNvSpPr>
            <a:spLocks noGrp="1"/>
          </p:cNvSpPr>
          <p:nvPr/>
        </p:nvSpPr>
        <p:spPr>
          <a:xfrm>
            <a:off x="27432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KNN + SVM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70AA9C-E72E-4084-9076-5ADCDA753EC5}"/>
              </a:ext>
            </a:extLst>
          </p:cNvPr>
          <p:cNvSpPr>
            <a:spLocks noGrp="1"/>
          </p:cNvSpPr>
          <p:nvPr/>
        </p:nvSpPr>
        <p:spPr>
          <a:xfrm>
            <a:off x="27432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Distance-based; SVM with linear/RBF kernel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B9656E-2A6C-4C81-A0A3-3173263B4EC6}"/>
              </a:ext>
            </a:extLst>
          </p:cNvPr>
          <p:cNvSpPr>
            <a:spLocks noGrp="1"/>
          </p:cNvSpPr>
          <p:nvPr/>
        </p:nvSpPr>
        <p:spPr>
          <a:xfrm>
            <a:off x="4171950" y="30289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1303E3-7B33-4660-A9CF-334E5AE3C567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1524000" cy="165735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0DA73F-A84D-41C1-8BAE-14375E780CFD}"/>
              </a:ext>
            </a:extLst>
          </p:cNvPr>
          <p:cNvSpPr>
            <a:spLocks noGrp="1"/>
          </p:cNvSpPr>
          <p:nvPr/>
        </p:nvSpPr>
        <p:spPr>
          <a:xfrm>
            <a:off x="44958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C599C8-3D79-4360-83DE-3946E8D35D85}"/>
              </a:ext>
            </a:extLst>
          </p:cNvPr>
          <p:cNvSpPr>
            <a:spLocks noGrp="1"/>
          </p:cNvSpPr>
          <p:nvPr/>
        </p:nvSpPr>
        <p:spPr>
          <a:xfrm>
            <a:off x="44958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EE210-F4A8-473D-A165-C51EA2AD90FD}"/>
              </a:ext>
            </a:extLst>
          </p:cNvPr>
          <p:cNvSpPr>
            <a:spLocks noGrp="1"/>
          </p:cNvSpPr>
          <p:nvPr/>
        </p:nvSpPr>
        <p:spPr>
          <a:xfrm>
            <a:off x="44958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Bagged trees; also used for feature selection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F84062-A8CE-4FE8-A261-F1402A13589C}"/>
              </a:ext>
            </a:extLst>
          </p:cNvPr>
          <p:cNvSpPr>
            <a:spLocks noGrp="1"/>
          </p:cNvSpPr>
          <p:nvPr/>
        </p:nvSpPr>
        <p:spPr>
          <a:xfrm>
            <a:off x="5924550" y="30289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E4777E-1BDD-48C9-8B95-55F3C52C3867}"/>
              </a:ext>
            </a:extLst>
          </p:cNvPr>
          <p:cNvSpPr>
            <a:spLocks noGrp="1"/>
          </p:cNvSpPr>
          <p:nvPr/>
        </p:nvSpPr>
        <p:spPr>
          <a:xfrm>
            <a:off x="6076950" y="2343150"/>
            <a:ext cx="1524000" cy="1657350"/>
          </a:xfrm>
          <a:prstGeom prst="rect">
            <a:avLst/>
          </a:prstGeom>
          <a:solidFill>
            <a:srgbClr val="10111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5635D1-4D8C-4965-A898-C00E0B273182}"/>
              </a:ext>
            </a:extLst>
          </p:cNvPr>
          <p:cNvSpPr>
            <a:spLocks noGrp="1"/>
          </p:cNvSpPr>
          <p:nvPr/>
        </p:nvSpPr>
        <p:spPr>
          <a:xfrm>
            <a:off x="62484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391B1F-07E3-4CF5-AB15-EF19FA34C3D1}"/>
              </a:ext>
            </a:extLst>
          </p:cNvPr>
          <p:cNvSpPr>
            <a:spLocks noGrp="1"/>
          </p:cNvSpPr>
          <p:nvPr/>
        </p:nvSpPr>
        <p:spPr>
          <a:xfrm>
            <a:off x="62484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XGBoost / LightGBM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BBC99A-AADE-4B1B-B110-DC83733A640B}"/>
              </a:ext>
            </a:extLst>
          </p:cNvPr>
          <p:cNvSpPr>
            <a:spLocks noGrp="1"/>
          </p:cNvSpPr>
          <p:nvPr/>
        </p:nvSpPr>
        <p:spPr>
          <a:xfrm>
            <a:off x="62484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Boosted trees; best ROC AUC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0B8607-76FD-4C95-B01A-FDBA319D708E}"/>
              </a:ext>
            </a:extLst>
          </p:cNvPr>
          <p:cNvSpPr>
            <a:spLocks noGrp="1"/>
          </p:cNvSpPr>
          <p:nvPr/>
        </p:nvSpPr>
        <p:spPr>
          <a:xfrm>
            <a:off x="7677150" y="30289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774EB-38C6-4085-8EB0-B470BD3812AA}"/>
              </a:ext>
            </a:extLst>
          </p:cNvPr>
          <p:cNvSpPr>
            <a:spLocks noGrp="1"/>
          </p:cNvSpPr>
          <p:nvPr/>
        </p:nvSpPr>
        <p:spPr>
          <a:xfrm>
            <a:off x="7829550" y="2343150"/>
            <a:ext cx="1524000" cy="1657350"/>
          </a:xfrm>
          <a:prstGeom prst="rect">
            <a:avLst/>
          </a:prstGeom>
          <a:solidFill>
            <a:srgbClr val="10111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8FB47D-4973-4DD2-B954-E9B94658C66E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616B89D-A6A1-4610-9510-45929793AAA7}"/>
              </a:ext>
            </a:extLst>
          </p:cNvPr>
          <p:cNvSpPr>
            <a:spLocks noGrp="1"/>
          </p:cNvSpPr>
          <p:nvPr/>
        </p:nvSpPr>
        <p:spPr>
          <a:xfrm>
            <a:off x="80010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Bi-LSTM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CA3B1F-E721-48F7-8F7F-D972268BDEC1}"/>
              </a:ext>
            </a:extLst>
          </p:cNvPr>
          <p:cNvSpPr>
            <a:spLocks noGrp="1"/>
          </p:cNvSpPr>
          <p:nvPr/>
        </p:nvSpPr>
        <p:spPr>
          <a:xfrm>
            <a:off x="80010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Sequence model, window=30, hidden=128, 2 layers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53FF34-80F4-41CC-AC8F-4CA8CD8A3738}"/>
              </a:ext>
            </a:extLst>
          </p:cNvPr>
          <p:cNvSpPr>
            <a:spLocks noGrp="1"/>
          </p:cNvSpPr>
          <p:nvPr/>
        </p:nvSpPr>
        <p:spPr>
          <a:xfrm>
            <a:off x="9429750" y="30289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C0EC80-0F2B-4536-8947-25CE8B2226C2}"/>
              </a:ext>
            </a:extLst>
          </p:cNvPr>
          <p:cNvSpPr>
            <a:spLocks noGrp="1"/>
          </p:cNvSpPr>
          <p:nvPr/>
        </p:nvSpPr>
        <p:spPr>
          <a:xfrm>
            <a:off x="9582150" y="2343150"/>
            <a:ext cx="1524000" cy="1657350"/>
          </a:xfrm>
          <a:prstGeom prst="rect">
            <a:avLst/>
          </a:prstGeom>
          <a:solidFill>
            <a:srgbClr val="10111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0996D0-3418-432D-9613-26F2F4F042AF}"/>
              </a:ext>
            </a:extLst>
          </p:cNvPr>
          <p:cNvSpPr>
            <a:spLocks noGrp="1"/>
          </p:cNvSpPr>
          <p:nvPr/>
        </p:nvSpPr>
        <p:spPr>
          <a:xfrm>
            <a:off x="9753600" y="25336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3C096F7-531B-4836-A0E8-3A5D82C16A41}"/>
              </a:ext>
            </a:extLst>
          </p:cNvPr>
          <p:cNvSpPr>
            <a:spLocks noGrp="1"/>
          </p:cNvSpPr>
          <p:nvPr/>
        </p:nvSpPr>
        <p:spPr>
          <a:xfrm>
            <a:off x="9753600" y="3048000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DQN + Ensembles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94D77AF-1C7D-4D0A-B8AA-52AA2DBA00D2}"/>
              </a:ext>
            </a:extLst>
          </p:cNvPr>
          <p:cNvSpPr>
            <a:spLocks noGrp="1"/>
          </p:cNvSpPr>
          <p:nvPr/>
        </p:nvSpPr>
        <p:spPr>
          <a:xfrm>
            <a:off x="9753600" y="3600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RL agent; Voting + Stacking ensemble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4CA1FBA-2A2F-49E8-A372-70568EACBC3E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All models tuned via GridSearchCV + TimeSeriesSplit(n=5). Hyperparameters calibrated per model.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70763A7-6F2C-475E-A6E6-558096C2D55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CB29173-D8F9-4D53-AA8D-D7A3FBB73AB7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E6B993-C3CE-4E1D-8918-F76A2DA4869D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46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B10A0A0-BBA5-4644-B26E-120237BEF2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0F87B3C-058C-498B-8177-DC99CBADA5FD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769BD63-2F69-4731-9DAD-7D7397499C7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RESULTS — MACRO-F1 AS PRIMARY METRIC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26F9B4-D9F2-41EF-9FDF-87D21DE60E2D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Macro-F1 chosen over accuracy: all 3 classes matter equally; accuracy is misleading on imbalanced data.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8C4B36-75AC-4122-A04A-ED2896920BC8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Model Performance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626328-0F14-45B0-8ADB-CD7816391C5F}"/>
              </a:ext>
            </a:extLst>
          </p:cNvPr>
          <p:cNvSpPr>
            <a:spLocks noGrp="1"/>
          </p:cNvSpPr>
          <p:nvPr/>
        </p:nvSpPr>
        <p:spPr>
          <a:xfrm>
            <a:off x="762000" y="18383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Stacking (RF+KNN+LGB+XGB)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F217C3-FA72-4D8B-864B-2A0C180DC512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898D29-2D21-4D29-882F-BA1A12C63B90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4772216" cy="190500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C84EFC-11AA-4001-A1D0-578E62961026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0.4283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5ACC2A-D250-4DF0-8CD4-57EBBD70F0EB}"/>
              </a:ext>
            </a:extLst>
          </p:cNvPr>
          <p:cNvSpPr>
            <a:spLocks noGrp="1"/>
          </p:cNvSpPr>
          <p:nvPr/>
        </p:nvSpPr>
        <p:spPr>
          <a:xfrm>
            <a:off x="2857500" y="21050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0.4124  |  AUC 0.5796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8A13A-FEA1-4EE9-9E4E-7B15752B763D}"/>
              </a:ext>
            </a:extLst>
          </p:cNvPr>
          <p:cNvSpPr>
            <a:spLocks noGrp="1"/>
          </p:cNvSpPr>
          <p:nvPr/>
        </p:nvSpPr>
        <p:spPr>
          <a:xfrm>
            <a:off x="762000" y="23907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Voting Ensemble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93A23B-27A4-4C57-B5FC-67100D96DD69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915DF4-81A4-40EC-A34C-8A510CE8A34E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4763135" cy="190500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657CEA-C054-4FDF-AAF9-584CD1504C26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0.4198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8D08EB-6253-437D-8198-5E1B9014DF20}"/>
              </a:ext>
            </a:extLst>
          </p:cNvPr>
          <p:cNvSpPr>
            <a:spLocks noGrp="1"/>
          </p:cNvSpPr>
          <p:nvPr/>
        </p:nvSpPr>
        <p:spPr>
          <a:xfrm>
            <a:off x="2857500" y="26574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0.3903  |  AUC 0.5926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39A10D-5808-49C8-80B7-474E59162A54}"/>
              </a:ext>
            </a:extLst>
          </p:cNvPr>
          <p:cNvSpPr>
            <a:spLocks noGrp="1"/>
          </p:cNvSpPr>
          <p:nvPr/>
        </p:nvSpPr>
        <p:spPr>
          <a:xfrm>
            <a:off x="762000" y="29432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Random Forest 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F9094D-E333-4583-B911-AEAFB000C5E7}"/>
              </a:ext>
            </a:extLst>
          </p:cNvPr>
          <p:cNvSpPr>
            <a:spLocks noGrp="1"/>
          </p:cNvSpPr>
          <p:nvPr/>
        </p:nvSpPr>
        <p:spPr>
          <a:xfrm>
            <a:off x="2857500" y="29718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591552-F994-4230-816B-484EF523D660}"/>
              </a:ext>
            </a:extLst>
          </p:cNvPr>
          <p:cNvSpPr>
            <a:spLocks noGrp="1"/>
          </p:cNvSpPr>
          <p:nvPr/>
        </p:nvSpPr>
        <p:spPr>
          <a:xfrm>
            <a:off x="2857500" y="2971800"/>
            <a:ext cx="1842516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918DDB-532F-4074-9FED-5EE61ABBA022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0.5781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7CE5FE-B6AE-40EF-B4F6-B29258E955D5}"/>
              </a:ext>
            </a:extLst>
          </p:cNvPr>
          <p:cNvSpPr>
            <a:spLocks noGrp="1"/>
          </p:cNvSpPr>
          <p:nvPr/>
        </p:nvSpPr>
        <p:spPr>
          <a:xfrm>
            <a:off x="2857500" y="32099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0.3105  |  AUC 0.5217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A7179A-31FA-44C4-B680-91704C4787CD}"/>
              </a:ext>
            </a:extLst>
          </p:cNvPr>
          <p:cNvSpPr>
            <a:spLocks noGrp="1"/>
          </p:cNvSpPr>
          <p:nvPr/>
        </p:nvSpPr>
        <p:spPr>
          <a:xfrm>
            <a:off x="762000" y="34956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KNN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5CCBA2-E5B3-4A96-9D34-63632E9DC449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1CBA66-9153-4AA3-913B-C3D2AC12E8AC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1816100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251421-D79D-41B3-A7A9-9A720471BCD4}"/>
              </a:ext>
            </a:extLst>
          </p:cNvPr>
          <p:cNvSpPr>
            <a:spLocks noGrp="1"/>
          </p:cNvSpPr>
          <p:nvPr/>
        </p:nvSpPr>
        <p:spPr>
          <a:xfrm>
            <a:off x="7981950" y="34671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0.5770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838835-1DAC-475C-AC56-9077047D869D}"/>
              </a:ext>
            </a:extLst>
          </p:cNvPr>
          <p:cNvSpPr>
            <a:spLocks noGrp="1"/>
          </p:cNvSpPr>
          <p:nvPr/>
        </p:nvSpPr>
        <p:spPr>
          <a:xfrm>
            <a:off x="2857500" y="37623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0.3119  |  AUC 0.4974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C1FF4F-86FB-4BEF-B984-CCB74350E2F5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LSTM (Bi, window=30)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7126DA-360E-4825-92E0-93FC8973D331}"/>
              </a:ext>
            </a:extLst>
          </p:cNvPr>
          <p:cNvSpPr>
            <a:spLocks noGrp="1"/>
          </p:cNvSpPr>
          <p:nvPr/>
        </p:nvSpPr>
        <p:spPr>
          <a:xfrm>
            <a:off x="2857500" y="40767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7AFAD8-3F71-4516-9409-C51E74AB22B6}"/>
              </a:ext>
            </a:extLst>
          </p:cNvPr>
          <p:cNvSpPr>
            <a:spLocks noGrp="1"/>
          </p:cNvSpPr>
          <p:nvPr/>
        </p:nvSpPr>
        <p:spPr>
          <a:xfrm>
            <a:off x="2857500" y="4076700"/>
            <a:ext cx="1789684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B57D64-DC43-45B5-95DF-E4D56E415226}"/>
              </a:ext>
            </a:extLst>
          </p:cNvPr>
          <p:cNvSpPr>
            <a:spLocks noGrp="1"/>
          </p:cNvSpPr>
          <p:nvPr/>
        </p:nvSpPr>
        <p:spPr>
          <a:xfrm>
            <a:off x="7981950" y="40195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0.5675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98948B-8870-429E-A8E9-FD728CAEC387}"/>
              </a:ext>
            </a:extLst>
          </p:cNvPr>
          <p:cNvSpPr>
            <a:spLocks noGrp="1"/>
          </p:cNvSpPr>
          <p:nvPr/>
        </p:nvSpPr>
        <p:spPr>
          <a:xfrm>
            <a:off x="2857500" y="43148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0.3452  |  AUC 0.5831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6283A8-25C5-483B-AB3C-C7EA7D1FB031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68D632-5E20-479C-B712-8282400A9048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3AC86A-542B-402F-823D-907166711C04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1632014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11CCC2E-74EF-4AA1-AEFA-51D1CACFD0FA}"/>
              </a:ext>
            </a:extLst>
          </p:cNvPr>
          <p:cNvSpPr>
            <a:spLocks noGrp="1"/>
          </p:cNvSpPr>
          <p:nvPr/>
        </p:nvSpPr>
        <p:spPr>
          <a:xfrm>
            <a:off x="7981950" y="45720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0.3369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CA6E0A-F3BA-411C-8AE8-D65A554C33D1}"/>
              </a:ext>
            </a:extLst>
          </p:cNvPr>
          <p:cNvSpPr>
            <a:spLocks noGrp="1"/>
          </p:cNvSpPr>
          <p:nvPr/>
        </p:nvSpPr>
        <p:spPr>
          <a:xfrm>
            <a:off x="2857500" y="48672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0.3384  |  AUC 0.6158 ★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820D1B-9F00-4B79-ADF8-1D5D1758FB97}"/>
              </a:ext>
            </a:extLst>
          </p:cNvPr>
          <p:cNvSpPr>
            <a:spLocks noGrp="1"/>
          </p:cNvSpPr>
          <p:nvPr/>
        </p:nvSpPr>
        <p:spPr>
          <a:xfrm>
            <a:off x="8743950" y="1885950"/>
            <a:ext cx="2476500" cy="186690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7C5B0B-2124-4438-A165-366F86A901D3}"/>
              </a:ext>
            </a:extLst>
          </p:cNvPr>
          <p:cNvSpPr>
            <a:spLocks noGrp="1"/>
          </p:cNvSpPr>
          <p:nvPr/>
        </p:nvSpPr>
        <p:spPr>
          <a:xfrm>
            <a:off x="8991600" y="213360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Best Macro F1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41C74C-BB8A-4267-8582-AA3B4011516B}"/>
              </a:ext>
            </a:extLst>
          </p:cNvPr>
          <p:cNvSpPr>
            <a:spLocks noGrp="1"/>
          </p:cNvSpPr>
          <p:nvPr/>
        </p:nvSpPr>
        <p:spPr>
          <a:xfrm>
            <a:off x="9029700" y="262890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0.4124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844AD2-EF97-4A48-A75C-36AF50F43769}"/>
              </a:ext>
            </a:extLst>
          </p:cNvPr>
          <p:cNvSpPr>
            <a:spLocks noGrp="1"/>
          </p:cNvSpPr>
          <p:nvPr/>
        </p:nvSpPr>
        <p:spPr>
          <a:xfrm>
            <a:off x="9029700" y="32575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Stacking Ensemble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E77123-54E1-4EF7-93E4-AFDB4128FC4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B1401D-A967-4858-B426-78446126ADCF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2F441DA-4FD0-4CE8-A968-DC8B171E741B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1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26DD793-0BED-4F83-8E4A-F9C4C0D23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D9249C8-7792-4261-BE61-F57DD0934D9A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FFFB966-C912-4074-A3B5-FDB00DCC6CD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RESULTS — INTERPRETATION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8CD399-536F-4A12-8719-599AFF04106B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Feature importance reveals which indicators most influence market state predictions.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543050"/>
            <a:ext cx="6477000" cy="453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1418C62-8D67-4086-837B-96C22241B620}"/>
              </a:ext>
            </a:extLst>
          </p:cNvPr>
          <p:cNvSpPr>
            <a:spLocks noGrp="1"/>
          </p:cNvSpPr>
          <p:nvPr/>
        </p:nvSpPr>
        <p:spPr>
          <a:xfrm>
            <a:off x="7543800" y="1943100"/>
            <a:ext cx="3143250" cy="10668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DE3A46-2E43-4F9A-B4BA-3C8CC3249B73}"/>
              </a:ext>
            </a:extLst>
          </p:cNvPr>
          <p:cNvSpPr>
            <a:spLocks noGrp="1"/>
          </p:cNvSpPr>
          <p:nvPr/>
        </p:nvSpPr>
        <p:spPr>
          <a:xfrm>
            <a:off x="7772400" y="21145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Top Features (RF)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543C3B-EB03-4F78-98FD-E429F1C7EFB4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2571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MVRV ratio, market cap, realised cap, price momentum (7/14/30d) — valuation cluster dominates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A39A5A-F68B-439D-9E10-7D1EE57FE6D5}"/>
              </a:ext>
            </a:extLst>
          </p:cNvPr>
          <p:cNvSpPr>
            <a:spLocks noGrp="1"/>
          </p:cNvSpPr>
          <p:nvPr/>
        </p:nvSpPr>
        <p:spPr>
          <a:xfrm>
            <a:off x="7543800" y="3162300"/>
            <a:ext cx="3143250" cy="10668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549E3D-325A-4370-B7E5-50CB07A07387}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Top Features (LightGBM)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D95C50-AE52-4B55-AAF6-D0021983775D}"/>
              </a:ext>
            </a:extLst>
          </p:cNvPr>
          <p:cNvSpPr>
            <a:spLocks noGrp="1"/>
          </p:cNvSpPr>
          <p:nvPr/>
        </p:nvSpPr>
        <p:spPr>
          <a:xfrm>
            <a:off x="7772400" y="3638550"/>
            <a:ext cx="2571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exchange_volume lags, hash_rate_ma30, coin_days_destroyed — network activity cluster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5CDAC0-8A36-4BF0-82C4-24E314FA83A0}"/>
              </a:ext>
            </a:extLst>
          </p:cNvPr>
          <p:cNvSpPr>
            <a:spLocks noGrp="1"/>
          </p:cNvSpPr>
          <p:nvPr/>
        </p:nvSpPr>
        <p:spPr>
          <a:xfrm>
            <a:off x="7543800" y="4381500"/>
            <a:ext cx="3143250" cy="10668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12ACE9-71F3-4247-92E4-EF26FF667DB9}"/>
              </a:ext>
            </a:extLst>
          </p:cNvPr>
          <p:cNvSpPr>
            <a:spLocks noGrp="1"/>
          </p:cNvSpPr>
          <p:nvPr/>
        </p:nvSpPr>
        <p:spPr>
          <a:xfrm>
            <a:off x="7772400" y="4552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612022-2F75-4913-9B51-D390F43E398B}"/>
              </a:ext>
            </a:extLst>
          </p:cNvPr>
          <p:cNvSpPr>
            <a:spLocks noGrp="1"/>
          </p:cNvSpPr>
          <p:nvPr/>
        </p:nvSpPr>
        <p:spPr>
          <a:xfrm>
            <a:off x="7772400" y="4857750"/>
            <a:ext cx="2571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Bear class is hardest to predict — models tend to over-predict Bull/Sideways. Ensemble methods improve balance.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EABD0F-06C2-42DC-B975-96EAE20E84A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1512E0-E8EF-4DA9-B3FD-DBC345039707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738AE3-FE09-4CD1-8A91-42A049B8AE24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463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B26C6E9-1734-40BE-893B-D7DA6DABA9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A3D7723-4B77-4D8B-AD89-423EBCBDABDE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849D832-A649-46B9-90C4-BA0D0197B31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761DB5-7E80-42C4-B229-376BCFF271E9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Rigorous temporal evaluation reveals that Bitcoin prediction is limited more by distribution shift than by model complexity.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0BECF1-489E-4982-9E30-FC9F2CA535DF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Limitations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B1A600-CBC6-45A1-92FA-795C909AFAF6}"/>
              </a:ext>
            </a:extLst>
          </p:cNvPr>
          <p:cNvSpPr>
            <a:spLocks noGrp="1"/>
          </p:cNvSpPr>
          <p:nvPr/>
        </p:nvSpPr>
        <p:spPr>
          <a:xfrm>
            <a:off x="3429000" y="1866900"/>
            <a:ext cx="657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ED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ED7C9"/>
                </a:solidFill>
                <a:latin typeface="Aptos"/>
                <a:ea typeface="Aptos"/>
                <a:cs typeface="Aptos"/>
              </a:rPr>
              <a:t>30-day / ±15% label choice is sensitive. On-chain features miss macro shocks. Single train/test split cannot prove cycle stability.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14684-3733-463A-AD5C-53A6116D6FC9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9239250" cy="11430"/>
          </a:xfrm>
          <a:prstGeom prst="rect">
            <a:avLst/>
          </a:prstGeom>
          <a:solidFill>
            <a:srgbClr val="3A3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B1A293-BC4F-4265-977B-AAFACF56AE2E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Key finding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6D73D1-852C-4F8B-8729-DB3DE1814D7D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657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ED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ED7C9"/>
                </a:solidFill>
                <a:latin typeface="Aptos"/>
                <a:ea typeface="Aptos"/>
                <a:cs typeface="Aptos"/>
              </a:rPr>
              <a:t>Ensemble (F1=0.4124) beats single models, but binary robustness (AUC up to 0.65) proves the pipeline is valid. The ceiling is data quality, not algorithm choice.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D2B418-14BE-4147-92FE-B38BCC533A90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9239250" cy="11430"/>
          </a:xfrm>
          <a:prstGeom prst="rect">
            <a:avLst/>
          </a:prstGeom>
          <a:solidFill>
            <a:srgbClr val="3A3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6BA2F3-95EB-4157-9FDF-1AF20EAE536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Future work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7B9357-1E0F-4C30-854F-C4D5AC54742F}"/>
              </a:ext>
            </a:extLst>
          </p:cNvPr>
          <p:cNvSpPr>
            <a:spLocks noGrp="1"/>
          </p:cNvSpPr>
          <p:nvPr/>
        </p:nvSpPr>
        <p:spPr>
          <a:xfrm>
            <a:off x="3429000" y="3848100"/>
            <a:ext cx="657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ED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ED7C9"/>
                </a:solidFill>
                <a:latin typeface="Aptos"/>
                <a:ea typeface="Aptos"/>
                <a:cs typeface="Aptos"/>
              </a:rPr>
              <a:t>Walk-forward validation, probability calibration, external signals (macro, derivatives, sentiment), class-specific thresholds.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29C2C9-852E-4A52-8E61-2B0ADA0D68DE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9239250" cy="11430"/>
          </a:xfrm>
          <a:prstGeom prst="rect">
            <a:avLst/>
          </a:prstGeom>
          <a:solidFill>
            <a:srgbClr val="3A3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A95584-919B-4DE8-BFDD-6CE5DA002C09}"/>
              </a:ext>
            </a:extLst>
          </p:cNvPr>
          <p:cNvSpPr>
            <a:spLocks noGrp="1"/>
          </p:cNvSpPr>
          <p:nvPr/>
        </p:nvSpPr>
        <p:spPr>
          <a:xfrm>
            <a:off x="800100" y="5162550"/>
            <a:ext cx="476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Q &amp; 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5F9C48-CA34-4C5B-BE8C-897279A9E30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BDB8A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8AC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431EE9-D936-4F08-A147-7A7E5EC27BF8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230048-1C65-4B74-8D6B-B4017E024D2C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3A3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050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80E1F07-25B1-4796-A1DC-A08FC3ECE5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7E8C2D0-A4C8-435B-91D6-C500A5F2AB07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D179226-C7A9-49EE-99B8-B4106AA8C1E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WHY F1=0.4124 MATTERS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1953D0-6A07-4808-A45B-35A46598930A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Three compounding reasons why Stacking macro-F1=0.4124 is a meaningful result.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F348A-A479-482D-8D7C-FBF0B7CEA112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118C09-FFA9-433F-BDF8-FB8D40EF048C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060DA-90C3-4855-9D07-362F0B84D912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Temporal split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8B2C9E-65BA-45E4-BFE7-BB6C221AD79F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Train ends Jan 2020; test covers the 2020-2023 crash cycle. No leakage of any kind.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F86AE6-1BF7-4A4A-8DA3-7532BE479AF1}"/>
              </a:ext>
            </a:extLst>
          </p:cNvPr>
          <p:cNvSpPr>
            <a:spLocks noGrp="1"/>
          </p:cNvSpPr>
          <p:nvPr/>
        </p:nvSpPr>
        <p:spPr>
          <a:xfrm>
            <a:off x="22574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A798DB-22B4-41F3-8D49-BB38456F47BE}"/>
              </a:ext>
            </a:extLst>
          </p:cNvPr>
          <p:cNvSpPr>
            <a:spLocks noGrp="1"/>
          </p:cNvSpPr>
          <p:nvPr/>
        </p:nvSpPr>
        <p:spPr>
          <a:xfrm>
            <a:off x="24193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D4AAC9-B31A-4919-A7E5-6A715DC7F4E4}"/>
              </a:ext>
            </a:extLst>
          </p:cNvPr>
          <p:cNvSpPr>
            <a:spLocks noGrp="1"/>
          </p:cNvSpPr>
          <p:nvPr/>
        </p:nvSpPr>
        <p:spPr>
          <a:xfrm>
            <a:off x="25908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012AB5-54E1-4289-A603-6A2987BF5514}"/>
              </a:ext>
            </a:extLst>
          </p:cNvPr>
          <p:cNvSpPr>
            <a:spLocks noGrp="1"/>
          </p:cNvSpPr>
          <p:nvPr/>
        </p:nvSpPr>
        <p:spPr>
          <a:xfrm>
            <a:off x="25908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Distribution shift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E47C13-13C5-4CD7-9FEC-EED3D46B8E26}"/>
              </a:ext>
            </a:extLst>
          </p:cNvPr>
          <p:cNvSpPr>
            <a:spLocks noGrp="1"/>
          </p:cNvSpPr>
          <p:nvPr/>
        </p:nvSpPr>
        <p:spPr>
          <a:xfrm>
            <a:off x="25908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2022 crypto crash created a structurally different regime — models trained pre-crash face genuine novelty.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A4995D-2993-4565-8CAA-227E37336294}"/>
              </a:ext>
            </a:extLst>
          </p:cNvPr>
          <p:cNvSpPr>
            <a:spLocks noGrp="1"/>
          </p:cNvSpPr>
          <p:nvPr/>
        </p:nvSpPr>
        <p:spPr>
          <a:xfrm>
            <a:off x="406717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55262C-CF46-48AD-B10A-2CAED1B0E0F6}"/>
              </a:ext>
            </a:extLst>
          </p:cNvPr>
          <p:cNvSpPr>
            <a:spLocks noGrp="1"/>
          </p:cNvSpPr>
          <p:nvPr/>
        </p:nvSpPr>
        <p:spPr>
          <a:xfrm>
            <a:off x="42291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B3BF9D-7F8C-44E6-995B-1D7349832977}"/>
              </a:ext>
            </a:extLst>
          </p:cNvPr>
          <p:cNvSpPr>
            <a:spLocks noGrp="1"/>
          </p:cNvSpPr>
          <p:nvPr/>
        </p:nvSpPr>
        <p:spPr>
          <a:xfrm>
            <a:off x="44005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5ECE91-0190-4EB8-8A39-D46DDED9E9F0}"/>
              </a:ext>
            </a:extLst>
          </p:cNvPr>
          <p:cNvSpPr>
            <a:spLocks noGrp="1"/>
          </p:cNvSpPr>
          <p:nvPr/>
        </p:nvSpPr>
        <p:spPr>
          <a:xfrm>
            <a:off x="44005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3-class harder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CC3C83-F731-4C84-B4A9-0DA38783E041}"/>
              </a:ext>
            </a:extLst>
          </p:cNvPr>
          <p:cNvSpPr>
            <a:spLocks noGrp="1"/>
          </p:cNvSpPr>
          <p:nvPr/>
        </p:nvSpPr>
        <p:spPr>
          <a:xfrm>
            <a:off x="44005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Binary F1 reaches 0.57 (SVM); 3-class benchmark is inherently more demanding.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B39C0F-808F-4BA0-8AF2-36D42118D713}"/>
              </a:ext>
            </a:extLst>
          </p:cNvPr>
          <p:cNvSpPr>
            <a:spLocks noGrp="1"/>
          </p:cNvSpPr>
          <p:nvPr/>
        </p:nvSpPr>
        <p:spPr>
          <a:xfrm>
            <a:off x="58769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D8DA8B-E992-4B1D-992B-1FF5585CCBF5}"/>
              </a:ext>
            </a:extLst>
          </p:cNvPr>
          <p:cNvSpPr>
            <a:spLocks noGrp="1"/>
          </p:cNvSpPr>
          <p:nvPr/>
        </p:nvSpPr>
        <p:spPr>
          <a:xfrm>
            <a:off x="60388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5A6F9F-48E5-4F99-A587-3DE7DB5E6E4F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05238D-094F-4654-BB65-A86344E63066}"/>
              </a:ext>
            </a:extLst>
          </p:cNvPr>
          <p:cNvSpPr>
            <a:spLocks noGrp="1"/>
          </p:cNvSpPr>
          <p:nvPr/>
        </p:nvSpPr>
        <p:spPr>
          <a:xfrm>
            <a:off x="62103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vs Random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5C69C5-191B-46E9-A010-1807ACF14FE5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+23.8% above random-guess macro-F1 of 0.333 — statistically meaningful separation.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31D6A8-2283-4598-B5A5-F325097BCA3F}"/>
              </a:ext>
            </a:extLst>
          </p:cNvPr>
          <p:cNvSpPr>
            <a:spLocks noGrp="1"/>
          </p:cNvSpPr>
          <p:nvPr/>
        </p:nvSpPr>
        <p:spPr>
          <a:xfrm>
            <a:off x="768667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D89884-0D03-4B7F-B6DF-A7C139BA657D}"/>
              </a:ext>
            </a:extLst>
          </p:cNvPr>
          <p:cNvSpPr>
            <a:spLocks noGrp="1"/>
          </p:cNvSpPr>
          <p:nvPr/>
        </p:nvSpPr>
        <p:spPr>
          <a:xfrm>
            <a:off x="7848600" y="2076450"/>
            <a:ext cx="1619250" cy="2095500"/>
          </a:xfrm>
          <a:prstGeom prst="rect">
            <a:avLst/>
          </a:prstGeom>
          <a:solidFill>
            <a:srgbClr val="EFE6D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B7E5BF-51D4-476F-BA30-F6BC2F947C6C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6CD5A7-25A7-49E9-A3EC-FE8FFA5A420E}"/>
              </a:ext>
            </a:extLst>
          </p:cNvPr>
          <p:cNvSpPr>
            <a:spLocks noGrp="1"/>
          </p:cNvSpPr>
          <p:nvPr/>
        </p:nvSpPr>
        <p:spPr>
          <a:xfrm>
            <a:off x="802005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vs Always-Sideways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02D9E9-02CA-46B1-A10F-B4A68314C1C6}"/>
              </a:ext>
            </a:extLst>
          </p:cNvPr>
          <p:cNvSpPr>
            <a:spLocks noGrp="1"/>
          </p:cNvSpPr>
          <p:nvPr/>
        </p:nvSpPr>
        <p:spPr>
          <a:xfrm>
            <a:off x="802005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+71.1% above majority-class-only baseline — ensemble correctly identifies non-sideways regimes.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336C39-1338-4C6D-9AB4-1A0295ABD215}"/>
              </a:ext>
            </a:extLst>
          </p:cNvPr>
          <p:cNvSpPr>
            <a:spLocks noGrp="1"/>
          </p:cNvSpPr>
          <p:nvPr/>
        </p:nvSpPr>
        <p:spPr>
          <a:xfrm>
            <a:off x="9496425" y="3105150"/>
            <a:ext cx="228600" cy="28575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8B5A6F-0324-4650-A89E-709D6CBB8BF9}"/>
              </a:ext>
            </a:extLst>
          </p:cNvPr>
          <p:cNvSpPr>
            <a:spLocks noGrp="1"/>
          </p:cNvSpPr>
          <p:nvPr/>
        </p:nvSpPr>
        <p:spPr>
          <a:xfrm>
            <a:off x="9658350" y="2076450"/>
            <a:ext cx="1619250" cy="2095500"/>
          </a:xfrm>
          <a:prstGeom prst="rect">
            <a:avLst/>
          </a:prstGeom>
          <a:solidFill>
            <a:srgbClr val="FFF9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E06C1D-9FEE-4762-935F-10A7117AF4E5}"/>
              </a:ext>
            </a:extLst>
          </p:cNvPr>
          <p:cNvSpPr>
            <a:spLocks noGrp="1"/>
          </p:cNvSpPr>
          <p:nvPr/>
        </p:nvSpPr>
        <p:spPr>
          <a:xfrm>
            <a:off x="9829800" y="22669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975B4B-5702-4164-9C63-BE31CF3C1B7E}"/>
              </a:ext>
            </a:extLst>
          </p:cNvPr>
          <p:cNvSpPr>
            <a:spLocks noGrp="1"/>
          </p:cNvSpPr>
          <p:nvPr/>
        </p:nvSpPr>
        <p:spPr>
          <a:xfrm>
            <a:off x="9829800" y="28003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Ensemble wins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D8506C-9CE8-4879-8394-27F5A7DA9E9F}"/>
              </a:ext>
            </a:extLst>
          </p:cNvPr>
          <p:cNvSpPr>
            <a:spLocks noGrp="1"/>
          </p:cNvSpPr>
          <p:nvPr/>
        </p:nvSpPr>
        <p:spPr>
          <a:xfrm>
            <a:off x="9829800" y="3276600"/>
            <a:ext cx="1219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Stacking F1=0.4124 beats RF (0.3105), LSTM (0.3452), and LightGBM (0.3384) individually.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339373-C02A-4361-B700-C7CE46242A48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F1=0.4124 reflects a real signal from on-chain data extracted under strict temporal constraints.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66F0266-F21A-4D40-A0A5-8F6F1B5D588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FAE122-D208-4949-A1C9-422363D5647E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90618D-652F-4E13-B0E6-740E24164E1F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749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B10A0A0-BBA5-4644-B26E-120237BEF2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0F87B3C-058C-498B-8177-DC99CBADA5FD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85725" cy="85725"/>
          </a:xfrm>
          <a:prstGeom prst="ellipse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769BD63-2F69-4731-9DAD-7D7397499C7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93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931A"/>
                </a:solidFill>
                <a:latin typeface="Aptos"/>
                <a:ea typeface="Aptos"/>
                <a:cs typeface="Aptos"/>
              </a:rPr>
              <a:t>BINARY ROBUSTNESS CHECK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26F9B4-D9F2-41EF-9FDF-87D21DE60E2D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Collapsing to Bull vs. Bear confirms the pipeline works — difficulty lies in 3-class separation.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8C4B36-75AC-4122-A04A-ED2896920BC8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114"/>
                </a:solidFill>
                <a:latin typeface="Aptos Display"/>
                <a:ea typeface="Aptos Display"/>
                <a:cs typeface="Aptos Display"/>
              </a:rPr>
              <a:t>Binary Classification Results (Bull vs. Bear)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626328-0F14-45B0-8ADB-CD7816391C5F}"/>
              </a:ext>
            </a:extLst>
          </p:cNvPr>
          <p:cNvSpPr>
            <a:spLocks noGrp="1"/>
          </p:cNvSpPr>
          <p:nvPr/>
        </p:nvSpPr>
        <p:spPr>
          <a:xfrm>
            <a:off x="762000" y="18383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SVM (linear)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F217C3-FA72-4D8B-864B-2A0C180DC512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898D29-2D21-4D29-882F-BA1A12C63B90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4772216" cy="190500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C84EFC-11AA-4001-A1D0-578E62961026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0.5587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5ACC2A-D250-4DF0-8CD4-57EBBD70F0EB}"/>
              </a:ext>
            </a:extLst>
          </p:cNvPr>
          <p:cNvSpPr>
            <a:spLocks noGrp="1"/>
          </p:cNvSpPr>
          <p:nvPr/>
        </p:nvSpPr>
        <p:spPr>
          <a:xfrm>
            <a:off x="2857500" y="21050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0.5452  |  AUC 0.6509 ★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8A13A-FEA1-4EE9-9E4E-7B15752B763D}"/>
              </a:ext>
            </a:extLst>
          </p:cNvPr>
          <p:cNvSpPr>
            <a:spLocks noGrp="1"/>
          </p:cNvSpPr>
          <p:nvPr/>
        </p:nvSpPr>
        <p:spPr>
          <a:xfrm>
            <a:off x="762000" y="23907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93A23B-27A4-4C57-B5FC-67100D96DD69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915DF4-81A4-40EC-A34C-8A510CE8A34E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4763135" cy="190500"/>
          </a:xfrm>
          <a:prstGeom prst="rect">
            <a:avLst/>
          </a:prstGeom>
          <a:solidFill>
            <a:srgbClr val="F79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657CEA-C054-4FDF-AAF9-584CD1504C26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0.5720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8D08EB-6253-437D-8198-5E1B9014DF20}"/>
              </a:ext>
            </a:extLst>
          </p:cNvPr>
          <p:cNvSpPr>
            <a:spLocks noGrp="1"/>
          </p:cNvSpPr>
          <p:nvPr/>
        </p:nvSpPr>
        <p:spPr>
          <a:xfrm>
            <a:off x="2857500" y="26574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0.5720  |  AUC 0.6369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39A10D-5808-49C8-80B7-474E59162A54}"/>
              </a:ext>
            </a:extLst>
          </p:cNvPr>
          <p:cNvSpPr>
            <a:spLocks noGrp="1"/>
          </p:cNvSpPr>
          <p:nvPr/>
        </p:nvSpPr>
        <p:spPr>
          <a:xfrm>
            <a:off x="762000" y="29432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F9094D-E333-4583-B911-AEAFB000C5E7}"/>
              </a:ext>
            </a:extLst>
          </p:cNvPr>
          <p:cNvSpPr>
            <a:spLocks noGrp="1"/>
          </p:cNvSpPr>
          <p:nvPr/>
        </p:nvSpPr>
        <p:spPr>
          <a:xfrm>
            <a:off x="2857500" y="29718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591552-F994-4230-816B-484EF523D660}"/>
              </a:ext>
            </a:extLst>
          </p:cNvPr>
          <p:cNvSpPr>
            <a:spLocks noGrp="1"/>
          </p:cNvSpPr>
          <p:nvPr/>
        </p:nvSpPr>
        <p:spPr>
          <a:xfrm>
            <a:off x="2857500" y="2971800"/>
            <a:ext cx="1842516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918DDB-532F-4074-9FED-5EE61ABBA022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0.5320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7CE5FE-B6AE-40EF-B4F6-B29258E955D5}"/>
              </a:ext>
            </a:extLst>
          </p:cNvPr>
          <p:cNvSpPr>
            <a:spLocks noGrp="1"/>
          </p:cNvSpPr>
          <p:nvPr/>
        </p:nvSpPr>
        <p:spPr>
          <a:xfrm>
            <a:off x="2857500" y="32099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0.5256  |  AUC 0.6461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A7179A-31FA-44C4-B680-91704C4787CD}"/>
              </a:ext>
            </a:extLst>
          </p:cNvPr>
          <p:cNvSpPr>
            <a:spLocks noGrp="1"/>
          </p:cNvSpPr>
          <p:nvPr/>
        </p:nvSpPr>
        <p:spPr>
          <a:xfrm>
            <a:off x="762000" y="34956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5CCBA2-E5B3-4A96-9D34-63632E9DC449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1CBA66-9153-4AA3-913B-C3D2AC12E8AC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1816100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251421-D79D-41B3-A7A9-9A720471BCD4}"/>
              </a:ext>
            </a:extLst>
          </p:cNvPr>
          <p:cNvSpPr>
            <a:spLocks noGrp="1"/>
          </p:cNvSpPr>
          <p:nvPr/>
        </p:nvSpPr>
        <p:spPr>
          <a:xfrm>
            <a:off x="7981950" y="34671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0.5427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838835-1DAC-475C-AC56-9077047D869D}"/>
              </a:ext>
            </a:extLst>
          </p:cNvPr>
          <p:cNvSpPr>
            <a:spLocks noGrp="1"/>
          </p:cNvSpPr>
          <p:nvPr/>
        </p:nvSpPr>
        <p:spPr>
          <a:xfrm>
            <a:off x="2857500" y="37623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0.4900  |  AUC 0.6436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C1FF4F-86FB-4BEF-B984-CCB74350E2F5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KNN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7126DA-360E-4825-92E0-93FC8973D331}"/>
              </a:ext>
            </a:extLst>
          </p:cNvPr>
          <p:cNvSpPr>
            <a:spLocks noGrp="1"/>
          </p:cNvSpPr>
          <p:nvPr/>
        </p:nvSpPr>
        <p:spPr>
          <a:xfrm>
            <a:off x="2857500" y="407670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7AFAD8-3F71-4516-9409-C51E74AB22B6}"/>
              </a:ext>
            </a:extLst>
          </p:cNvPr>
          <p:cNvSpPr>
            <a:spLocks noGrp="1"/>
          </p:cNvSpPr>
          <p:nvPr/>
        </p:nvSpPr>
        <p:spPr>
          <a:xfrm>
            <a:off x="2857500" y="4076700"/>
            <a:ext cx="1789684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B57D64-DC43-45B5-95DF-E4D56E415226}"/>
              </a:ext>
            </a:extLst>
          </p:cNvPr>
          <p:cNvSpPr>
            <a:spLocks noGrp="1"/>
          </p:cNvSpPr>
          <p:nvPr/>
        </p:nvSpPr>
        <p:spPr>
          <a:xfrm>
            <a:off x="7981950" y="40195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0.5493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98948B-8870-429E-A8E9-FD728CAEC387}"/>
              </a:ext>
            </a:extLst>
          </p:cNvPr>
          <p:cNvSpPr>
            <a:spLocks noGrp="1"/>
          </p:cNvSpPr>
          <p:nvPr/>
        </p:nvSpPr>
        <p:spPr>
          <a:xfrm>
            <a:off x="2857500" y="431482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0.4593  |  AUC 0.5619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6283A8-25C5-483B-AB3C-C7EA7D1FB031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Always-Up (majority)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68D632-5E20-479C-B712-8282400A9048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4953000" cy="190500"/>
          </a:xfrm>
          <a:prstGeom prst="rect">
            <a:avLst/>
          </a:prstGeom>
          <a:solidFill>
            <a:srgbClr val="E8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3AC86A-542B-402F-823D-907166711C04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1632014" cy="190500"/>
          </a:xfrm>
          <a:prstGeom prst="rect">
            <a:avLst/>
          </a:prstGeom>
          <a:solidFill>
            <a:srgbClr val="5F62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11CCC2E-74EF-4AA1-AEFA-51D1CACFD0FA}"/>
              </a:ext>
            </a:extLst>
          </p:cNvPr>
          <p:cNvSpPr>
            <a:spLocks noGrp="1"/>
          </p:cNvSpPr>
          <p:nvPr/>
        </p:nvSpPr>
        <p:spPr>
          <a:xfrm>
            <a:off x="7981950" y="45720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Acc 0.5213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CA6E0A-F3BA-411C-8AE8-D65A554C33D1}"/>
              </a:ext>
            </a:extLst>
          </p:cNvPr>
          <p:cNvSpPr>
            <a:spLocks noGrp="1"/>
          </p:cNvSpPr>
          <p:nvPr/>
        </p:nvSpPr>
        <p:spPr>
          <a:xfrm>
            <a:off x="2857500" y="4867275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F1 0.3427  |  AUC N/A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820D1B-9F00-4B79-ADF8-1D5D1758FB97}"/>
              </a:ext>
            </a:extLst>
          </p:cNvPr>
          <p:cNvSpPr>
            <a:spLocks noGrp="1"/>
          </p:cNvSpPr>
          <p:nvPr/>
        </p:nvSpPr>
        <p:spPr>
          <a:xfrm>
            <a:off x="8743950" y="1885950"/>
            <a:ext cx="2476500" cy="1866900"/>
          </a:xfrm>
          <a:prstGeom prst="rect">
            <a:avLst/>
          </a:prstGeom>
          <a:solidFill>
            <a:srgbClr val="1011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7C5B0B-2124-4438-A165-366F86A901D3}"/>
              </a:ext>
            </a:extLst>
          </p:cNvPr>
          <p:cNvSpPr>
            <a:spLocks noGrp="1"/>
          </p:cNvSpPr>
          <p:nvPr/>
        </p:nvSpPr>
        <p:spPr>
          <a:xfrm>
            <a:off x="8991600" y="213360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Best Binary AUC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41C74C-BB8A-4267-8582-AA3B4011516B}"/>
              </a:ext>
            </a:extLst>
          </p:cNvPr>
          <p:cNvSpPr>
            <a:spLocks noGrp="1"/>
          </p:cNvSpPr>
          <p:nvPr/>
        </p:nvSpPr>
        <p:spPr>
          <a:xfrm>
            <a:off x="9029700" y="262890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931A"/>
                </a:solidFill>
                <a:latin typeface="Aptos Display"/>
                <a:ea typeface="Aptos Display"/>
                <a:cs typeface="Aptos Display"/>
              </a:rPr>
              <a:t>0.6509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844AD2-EF97-4A48-A75C-36AF50F43769}"/>
              </a:ext>
            </a:extLst>
          </p:cNvPr>
          <p:cNvSpPr>
            <a:spLocks noGrp="1"/>
          </p:cNvSpPr>
          <p:nvPr/>
        </p:nvSpPr>
        <p:spPr>
          <a:xfrm>
            <a:off x="9029700" y="32575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SVM (linear kernel)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E77123-54E1-4EF7-93E4-AFDB4128FC4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2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25E"/>
                </a:solidFill>
                <a:latin typeface="Aptos"/>
                <a:ea typeface="Aptos"/>
                <a:cs typeface="Aptos"/>
              </a:rPr>
              <a:t>Cherrili/bitcoin-market-prediction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B1401D-A967-4858-B426-78446126ADCF}"/>
              </a:ext>
            </a:extLst>
          </p:cNvPr>
          <p:cNvSpPr>
            <a:spLocks noGrp="1"/>
          </p:cNvSpPr>
          <p:nvPr/>
        </p:nvSpPr>
        <p:spPr>
          <a:xfrm>
            <a:off x="11163300" y="63817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2F441DA-4FD0-4CE8-A968-DC8B171E741B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111633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188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Macintosh PowerPoint</Application>
  <DocSecurity>0</DocSecurity>
  <PresentationFormat>宽屏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#CHEN ZHIYU#</cp:lastModifiedBy>
  <cp:revision>1</cp:revision>
  <dcterms:created xsi:type="dcterms:W3CDTF">2026-05-20T16:15:31Z</dcterms:created>
  <dcterms:modified xsi:type="dcterms:W3CDTF">2026-05-20T16:17:07Z</dcterms:modified>
</cp:coreProperties>
</file>